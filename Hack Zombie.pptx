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C6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F26850-4A51-48B7-A361-B4BFFB4FC019}" v="6" dt="2026-08-09T15:32:00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544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96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5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900"/>
          </a:p>
        </p:txBody>
      </p:sp>
      <p:sp>
        <p:nvSpPr>
          <p:cNvPr id="3" name="TextBox 3"/>
          <p:cNvSpPr txBox="1"/>
          <p:nvPr/>
        </p:nvSpPr>
        <p:spPr>
          <a:xfrm>
            <a:off x="6477000" y="2027531"/>
            <a:ext cx="2600653" cy="1201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5"/>
              </a:lnSpc>
            </a:pPr>
            <a:r>
              <a:rPr lang="en-US" sz="3474" dirty="0">
                <a:solidFill>
                  <a:srgbClr val="98C632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HACK</a:t>
            </a:r>
          </a:p>
          <a:p>
            <a:pPr algn="ctr">
              <a:lnSpc>
                <a:spcPts val="4865"/>
              </a:lnSpc>
              <a:spcBef>
                <a:spcPct val="0"/>
              </a:spcBef>
            </a:pPr>
            <a:r>
              <a:rPr lang="en-US" sz="3474" dirty="0">
                <a:solidFill>
                  <a:srgbClr val="98C632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MATRIX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2900" y="400050"/>
            <a:ext cx="4098028" cy="5726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5"/>
              </a:lnSpc>
              <a:spcBef>
                <a:spcPct val="0"/>
              </a:spcBef>
            </a:pPr>
            <a:r>
              <a:rPr lang="en-US" sz="3474" i="1" dirty="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ArogyaPulse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3073" y="1739949"/>
            <a:ext cx="5573428" cy="2669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Problem Statement: </a:t>
            </a:r>
            <a:r>
              <a:rPr lang="en-US" sz="1500" i="1" dirty="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Build technology that improves healthcare accessibility, prevention, wellness, patient experience, medical workflows or healthcare delivery.</a:t>
            </a:r>
          </a:p>
          <a:p>
            <a:pPr>
              <a:lnSpc>
                <a:spcPts val="2100"/>
              </a:lnSpc>
            </a:pPr>
            <a:endParaRPr lang="en-US" sz="1500" dirty="0">
              <a:solidFill>
                <a:srgbClr val="98C632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Domain: </a:t>
            </a:r>
            <a:r>
              <a:rPr lang="en-US" sz="1500" i="1" dirty="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HealthTech</a:t>
            </a:r>
          </a:p>
          <a:p>
            <a:pPr>
              <a:lnSpc>
                <a:spcPts val="2100"/>
              </a:lnSpc>
            </a:pPr>
            <a:endParaRPr lang="en-US" sz="1500" dirty="0">
              <a:solidFill>
                <a:srgbClr val="98C632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Team: </a:t>
            </a:r>
            <a:r>
              <a:rPr lang="en-US" sz="1500" i="1" dirty="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Hack Zombie</a:t>
            </a:r>
          </a:p>
          <a:p>
            <a:pPr>
              <a:lnSpc>
                <a:spcPts val="2100"/>
              </a:lnSpc>
            </a:pPr>
            <a:endParaRPr lang="en-US" sz="1500" dirty="0">
              <a:solidFill>
                <a:srgbClr val="98C632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1500" b="1" i="1" dirty="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Arav Kotwal · Agastaya Jindal · Adithya Ranjan · Karthik Natarajan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>
            <a:extLst>
              <a:ext uri="{FF2B5EF4-FFF2-40B4-BE49-F238E27FC236}">
                <a16:creationId xmlns:a16="http://schemas.microsoft.com/office/drawing/2014/main" id="{51B35339-9CF7-8374-9892-37EA93F4E19A}"/>
              </a:ext>
            </a:extLst>
          </p:cNvPr>
          <p:cNvSpPr/>
          <p:nvPr/>
        </p:nvSpPr>
        <p:spPr>
          <a:xfrm>
            <a:off x="0" y="1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AROGYAPULSE</a:t>
            </a:r>
            <a:endParaRPr lang="en-US" sz="4800" dirty="0">
              <a:solidFill>
                <a:srgbClr val="98C63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Rural Healthcare Triage System</a:t>
            </a:r>
            <a:endParaRPr lang="en-US" sz="2000" dirty="0">
              <a:solidFill>
                <a:srgbClr val="98C63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rural pulse, seen in time.</a:t>
            </a:r>
            <a:endParaRPr lang="en-US" sz="1600" dirty="0">
              <a:solidFill>
                <a:srgbClr val="98C63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Arav Kotwal  ·  Agastaya Jindal  ·  Adithya Ranjan  ·  Karthik Natarajan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Madhav Institute of Technology &amp; Science, Gwalior</a:t>
            </a:r>
            <a:endParaRPr lang="en-US" sz="1200" dirty="0">
              <a:solidFill>
                <a:srgbClr val="98C63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/>
          <p:cNvSpPr/>
          <p:nvPr/>
        </p:nvSpPr>
        <p:spPr>
          <a:xfrm>
            <a:off x="6126480" y="13716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Freeform 2">
            <a:extLst>
              <a:ext uri="{FF2B5EF4-FFF2-40B4-BE49-F238E27FC236}">
                <a16:creationId xmlns:a16="http://schemas.microsoft.com/office/drawing/2014/main" id="{6EF0A016-50A2-C372-B5BC-36CDCEC13B9E}"/>
              </a:ext>
            </a:extLst>
          </p:cNvPr>
          <p:cNvSpPr/>
          <p:nvPr/>
        </p:nvSpPr>
        <p:spPr>
          <a:xfrm>
            <a:off x="-4497" y="0"/>
            <a:ext cx="9148497" cy="516110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51874" y="320040"/>
            <a:ext cx="77349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51874" y="685800"/>
            <a:ext cx="77349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Silence Between Heartbeats</a:t>
            </a:r>
            <a:endParaRPr lang="en-US" sz="2800" dirty="0">
              <a:solidFill>
                <a:srgbClr val="98C63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>
              <a:solidFill>
                <a:srgbClr val="98C63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Tools</a:t>
            </a:r>
            <a:endParaRPr lang="en-US" sz="1500" dirty="0">
              <a:solidFill>
                <a:srgbClr val="98C63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workers lack simple digital tools for quick clinical triage at the village level.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>
              <a:solidFill>
                <a:srgbClr val="98C63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47472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Detection</a:t>
            </a:r>
            <a:endParaRPr lang="en-US" sz="1500" dirty="0">
              <a:solidFill>
                <a:srgbClr val="98C63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cases reach doctors only after emergencies have already begun.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0936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>
              <a:solidFill>
                <a:srgbClr val="98C632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0936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Mile Unserved</a:t>
            </a:r>
            <a:endParaRPr lang="en-US" sz="1500" dirty="0">
              <a:solidFill>
                <a:srgbClr val="98C63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09360" y="2514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 and complex apps leave rural communities without support.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ArogyaPulse  |  Every rural pulse, seen in time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7"/>
          <p:cNvSpPr/>
          <p:nvPr/>
        </p:nvSpPr>
        <p:spPr>
          <a:xfrm>
            <a:off x="4754880" y="246888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24900" y="164592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89120" y="86868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134E4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26" name="Freeform 2">
            <a:extLst>
              <a:ext uri="{FF2B5EF4-FFF2-40B4-BE49-F238E27FC236}">
                <a16:creationId xmlns:a16="http://schemas.microsoft.com/office/drawing/2014/main" id="{93D50B1D-1174-64B7-FBC3-626350CE820F}"/>
              </a:ext>
            </a:extLst>
          </p:cNvPr>
          <p:cNvSpPr/>
          <p:nvPr/>
        </p:nvSpPr>
        <p:spPr>
          <a:xfrm>
            <a:off x="-4497" y="0"/>
            <a:ext cx="9148497" cy="516110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>
              <a:solidFill>
                <a:srgbClr val="98C63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PROBLEM EXISTS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326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1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737360" y="9326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triage tools at village level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2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737360" y="15727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patient load + shortage of doctors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3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37360" y="22128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create dangerous delays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37760" y="8686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PROBLEM</a:t>
            </a:r>
            <a:endParaRPr lang="en-US" sz="1100" dirty="0">
              <a:solidFill>
                <a:srgbClr val="98C632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instant risk stratification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3776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CONSEQUENCE</a:t>
            </a:r>
            <a:endParaRPr lang="en-US" sz="1100" dirty="0">
              <a:solidFill>
                <a:srgbClr val="98C632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3776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referrals &amp; missed red flags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37760" y="2514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IMPACT</a:t>
            </a:r>
            <a:endParaRPr lang="en-US" sz="1100" dirty="0">
              <a:solidFill>
                <a:srgbClr val="98C632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maternal &amp; emergency deaths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Approach:  Paper Register  →  Manual Guesswork  →  Delayed Review  →  Emergency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94873" y="46177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ArogyaPulse  |  Every rural pulse, seen in time</a:t>
            </a:r>
            <a:endParaRPr lang="en-US" sz="1100" dirty="0">
              <a:solidFill>
                <a:srgbClr val="98C632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>
              <a:solidFill>
                <a:srgbClr val="98C63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2">
            <a:extLst>
              <a:ext uri="{FF2B5EF4-FFF2-40B4-BE49-F238E27FC236}">
                <a16:creationId xmlns:a16="http://schemas.microsoft.com/office/drawing/2014/main" id="{57EC7C1F-5292-1193-BC05-AB261E27AFF0}"/>
              </a:ext>
            </a:extLst>
          </p:cNvPr>
          <p:cNvSpPr/>
          <p:nvPr/>
        </p:nvSpPr>
        <p:spPr>
          <a:xfrm>
            <a:off x="-4497" y="0"/>
            <a:ext cx="9148497" cy="516110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>
              <a:solidFill>
                <a:srgbClr val="98C63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702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ArogyaPulse</a:t>
            </a:r>
            <a:endParaRPr lang="en-US" sz="2600" dirty="0">
              <a:solidFill>
                <a:srgbClr val="98C63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ArogyaPulse enables ASHA workers to instantly risk-stratify patients and pushes critical cases to doctors in real time.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ASHA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87452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>
              <a:solidFill>
                <a:srgbClr val="98C63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194560" y="1691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Vitals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61188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>
              <a:solidFill>
                <a:srgbClr val="98C63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31920" y="1691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4924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>
              <a:solidFill>
                <a:srgbClr val="98C63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69280" y="1691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+ AI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08660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>
              <a:solidFill>
                <a:srgbClr val="98C632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06640" y="1691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2514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>
              <a:solidFill>
                <a:srgbClr val="98C632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Vitals Triage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33375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0–100 in seconds using BP, SpO2, Glucose, Temp + Pregnancy status based on WHO/NHM rules.</a:t>
            </a:r>
            <a:endParaRPr lang="en-US" sz="1200" dirty="0">
              <a:solidFill>
                <a:srgbClr val="98C632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3520440" y="2514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>
              <a:solidFill>
                <a:srgbClr val="98C632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52044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Doctor Dashboard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520440" y="33375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patients always float to the top in red with AI clinical summary and status tracking.</a:t>
            </a:r>
            <a:endParaRPr lang="en-US" sz="1200" dirty="0">
              <a:solidFill>
                <a:srgbClr val="98C632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0" y="2514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>
              <a:solidFill>
                <a:srgbClr val="98C632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ASHA Sahayak AI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00800" y="33375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(English + हिंदी) clinical guidance for danger signs, pregnancy, first aid and more.</a:t>
            </a:r>
            <a:endParaRPr lang="en-US" sz="1200" dirty="0">
              <a:solidFill>
                <a:srgbClr val="98C632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228600" y="45948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ArogyaPulse  |  Every rural pulse, seen in time</a:t>
            </a:r>
            <a:endParaRPr lang="en-US" sz="1100" dirty="0">
              <a:solidFill>
                <a:srgbClr val="98C632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>
              <a:solidFill>
                <a:srgbClr val="98C63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3"/>
          <p:cNvSpPr/>
          <p:nvPr/>
        </p:nvSpPr>
        <p:spPr>
          <a:xfrm>
            <a:off x="4754880" y="33375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4880" y="22402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73152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73152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32" name="Freeform 2">
            <a:extLst>
              <a:ext uri="{FF2B5EF4-FFF2-40B4-BE49-F238E27FC236}">
                <a16:creationId xmlns:a16="http://schemas.microsoft.com/office/drawing/2014/main" id="{907C09EA-3C7B-5A1B-50BB-DD963AFFE8C7}"/>
              </a:ext>
            </a:extLst>
          </p:cNvPr>
          <p:cNvSpPr/>
          <p:nvPr/>
        </p:nvSpPr>
        <p:spPr>
          <a:xfrm>
            <a:off x="-4497" y="0"/>
            <a:ext cx="9148497" cy="516110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>
              <a:solidFill>
                <a:srgbClr val="98C63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74361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74361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in the next 60 seconds</a:t>
            </a:r>
            <a:endParaRPr lang="en-US" sz="2400" dirty="0">
              <a:solidFill>
                <a:srgbClr val="98C63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Patient Intake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name, vitals &amp; red-flag symptoms in under 60 seconds. Simple form, minimal training.</a:t>
            </a:r>
            <a:endParaRPr lang="en-US" sz="1200" dirty="0">
              <a:solidFill>
                <a:srgbClr val="98C63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98348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AI Risk Engine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83480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score (0–100) labelled Low / Medium / High with clear clinical reasons.</a:t>
            </a:r>
            <a:endParaRPr lang="en-US" sz="1200" dirty="0">
              <a:solidFill>
                <a:srgbClr val="98C632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Doctor Dashboard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2697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patients float to the top in red. Real-time triage with status tracking.</a:t>
            </a:r>
            <a:endParaRPr lang="en-US" sz="1200" dirty="0">
              <a:solidFill>
                <a:srgbClr val="98C632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8348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Clinical Summary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83480" y="2697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explanation so doctors understand urgency and decide in seconds.</a:t>
            </a:r>
            <a:endParaRPr lang="en-US" sz="1200" dirty="0">
              <a:solidFill>
                <a:srgbClr val="98C63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5800" y="3474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Alerts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5800" y="3794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notifications to ASHA workers and family the moment a case is created.</a:t>
            </a:r>
            <a:endParaRPr lang="en-US" sz="1200" dirty="0">
              <a:solidFill>
                <a:srgbClr val="98C632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83480" y="3474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ASHA Sahayak AI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83480" y="3794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field assistant for danger signs, immunization, high-risk pregnancy &amp; first aid.</a:t>
            </a:r>
            <a:endParaRPr lang="en-US" sz="1200" dirty="0">
              <a:solidFill>
                <a:srgbClr val="98C632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ArogyaPulse  |  Every rural pulse, seen in time</a:t>
            </a:r>
            <a:endParaRPr lang="en-US" sz="1100" dirty="0">
              <a:solidFill>
                <a:srgbClr val="98C632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>
              <a:solidFill>
                <a:srgbClr val="98C63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3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32" name="Freeform 2">
            <a:extLst>
              <a:ext uri="{FF2B5EF4-FFF2-40B4-BE49-F238E27FC236}">
                <a16:creationId xmlns:a16="http://schemas.microsoft.com/office/drawing/2014/main" id="{3F78B436-E7FF-3BDF-A8E5-26499DC63F5F}"/>
              </a:ext>
            </a:extLst>
          </p:cNvPr>
          <p:cNvSpPr/>
          <p:nvPr/>
        </p:nvSpPr>
        <p:spPr>
          <a:xfrm>
            <a:off x="-4497" y="0"/>
            <a:ext cx="9148497" cy="516110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>
              <a:solidFill>
                <a:srgbClr val="98C63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086787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US DIFFERENT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86787" y="6039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approach wins</a:t>
            </a:r>
            <a:endParaRPr lang="en-US" sz="2400" dirty="0">
              <a:solidFill>
                <a:srgbClr val="98C63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0" y="1280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Approach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ArogyaPulse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17556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0" y="1755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35040" y="1755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low-connectivity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258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00400" y="2258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manual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35040" y="2258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deterministic triage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2761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feedback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00400" y="2761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none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35040" y="27614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risk + AI guidance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3264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support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00400" y="3264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English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35040" y="32644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हिंदी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" y="3767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action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200400" y="37673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days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35040" y="37673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60 seconds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224852" y="45986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ArogyaPulse  |  Every rural pulse, seen in time</a:t>
            </a:r>
            <a:endParaRPr lang="en-US" sz="1100" dirty="0">
              <a:solidFill>
                <a:srgbClr val="98C632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>
              <a:solidFill>
                <a:srgbClr val="98C63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9"/>
          <p:cNvSpPr/>
          <p:nvPr/>
        </p:nvSpPr>
        <p:spPr>
          <a:xfrm>
            <a:off x="457200" y="37033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28" name="Freeform 2">
            <a:extLst>
              <a:ext uri="{FF2B5EF4-FFF2-40B4-BE49-F238E27FC236}">
                <a16:creationId xmlns:a16="http://schemas.microsoft.com/office/drawing/2014/main" id="{02F547DD-D18A-04AC-D70C-BA291D20319E}"/>
              </a:ext>
            </a:extLst>
          </p:cNvPr>
          <p:cNvSpPr/>
          <p:nvPr/>
        </p:nvSpPr>
        <p:spPr>
          <a:xfrm>
            <a:off x="-4497" y="0"/>
            <a:ext cx="9148497" cy="516110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>
              <a:solidFill>
                <a:srgbClr val="98C63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89351" y="31704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89351" y="5715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Simple. Reliable. Field-ready.</a:t>
            </a:r>
            <a:endParaRPr lang="en-US" sz="2400" dirty="0">
              <a:solidFill>
                <a:srgbClr val="98C63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651760" y="1280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Web UI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669280" y="1280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Mobile-friendly, low-literacy design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65176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10 / ASP.NET Core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API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5176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69280" y="2560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Zero-config, works offline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265176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AI Engine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928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WHO/NHM clinical protocols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2651760" y="3840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+ हिंदी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69280" y="3840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AI guidance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299804" y="4663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ArogyaPulse  |  Every rural pulse, seen in time</a:t>
            </a:r>
            <a:endParaRPr lang="en-US" sz="1100" dirty="0">
              <a:solidFill>
                <a:srgbClr val="98C632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>
              <a:solidFill>
                <a:srgbClr val="98C63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6217920" y="27432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37560" y="27432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IN">
              <a:solidFill>
                <a:srgbClr val="98C632"/>
              </a:solidFill>
            </a:endParaRPr>
          </a:p>
        </p:txBody>
      </p:sp>
      <p:sp>
        <p:nvSpPr>
          <p:cNvPr id="26" name="Freeform 2">
            <a:extLst>
              <a:ext uri="{FF2B5EF4-FFF2-40B4-BE49-F238E27FC236}">
                <a16:creationId xmlns:a16="http://schemas.microsoft.com/office/drawing/2014/main" id="{CA535589-6964-7D00-9AA4-4149013E5A36}"/>
              </a:ext>
            </a:extLst>
          </p:cNvPr>
          <p:cNvSpPr/>
          <p:nvPr/>
        </p:nvSpPr>
        <p:spPr>
          <a:xfrm>
            <a:off x="-4497" y="0"/>
            <a:ext cx="9148497" cy="516110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>
              <a:solidFill>
                <a:srgbClr val="98C63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0954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654133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reactive care into proactive care</a:t>
            </a:r>
            <a:endParaRPr lang="en-US" sz="2200" dirty="0">
              <a:solidFill>
                <a:srgbClr val="98C63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Intervention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Deterioration is caught before it becomes an emergency</a:t>
            </a:r>
            <a:endParaRPr lang="en-US" sz="1200" dirty="0">
              <a:solidFill>
                <a:srgbClr val="98C63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520440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Hospitalisations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520440" y="1874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burden on PHCs, families and the system</a:t>
            </a:r>
            <a:endParaRPr lang="en-US" sz="1200" dirty="0">
              <a:solidFill>
                <a:srgbClr val="98C63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0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Empowered ASHAs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0" y="1874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guidance builds confidence and care quality</a:t>
            </a:r>
            <a:endParaRPr lang="en-US" sz="1200" dirty="0">
              <a:solidFill>
                <a:srgbClr val="98C632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Doctor Time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critical cases reach the top of the queue</a:t>
            </a:r>
            <a:endParaRPr lang="en-US" sz="1200" dirty="0">
              <a:solidFill>
                <a:srgbClr val="98C632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2044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Model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520440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bilingual, field-ready system for rural India</a:t>
            </a:r>
            <a:endParaRPr lang="en-US" sz="1200" dirty="0">
              <a:solidFill>
                <a:srgbClr val="98C632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Protected</a:t>
            </a:r>
            <a:endParaRPr lang="en-US" sz="1400" dirty="0">
              <a:solidFill>
                <a:srgbClr val="98C632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high-risk pulse is seen in time</a:t>
            </a:r>
            <a:endParaRPr lang="en-US" sz="1200" dirty="0">
              <a:solidFill>
                <a:srgbClr val="98C63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202367" y="4621093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ArogyaPulse  |  Every rural pulse, seen in time</a:t>
            </a:r>
            <a:endParaRPr lang="en-US" sz="1100" dirty="0">
              <a:solidFill>
                <a:srgbClr val="98C632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>
              <a:solidFill>
                <a:srgbClr val="98C63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EC380D6A-8DE2-A8EF-57A5-4D276907ED56}"/>
              </a:ext>
            </a:extLst>
          </p:cNvPr>
          <p:cNvSpPr/>
          <p:nvPr/>
        </p:nvSpPr>
        <p:spPr>
          <a:xfrm>
            <a:off x="-4497" y="0"/>
            <a:ext cx="9148497" cy="516110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>
              <a:solidFill>
                <a:srgbClr val="98C632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ArogyaPulse does not replace</a:t>
            </a:r>
            <a:endParaRPr lang="en-US" sz="2800" dirty="0">
              <a:solidFill>
                <a:srgbClr val="98C632"/>
              </a:solidFill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 or ASHA workers.</a:t>
            </a:r>
            <a:endParaRPr lang="en-US" sz="2800" dirty="0">
              <a:solidFill>
                <a:srgbClr val="98C63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amplifies them —</a:t>
            </a:r>
            <a:endParaRPr lang="en-US" sz="2400" dirty="0">
              <a:solidFill>
                <a:srgbClr val="98C632"/>
              </a:solidFill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every rural pulse is seen in time.</a:t>
            </a:r>
            <a:endParaRPr lang="en-US" sz="2400" dirty="0">
              <a:solidFill>
                <a:srgbClr val="98C63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Arav Kotwal  ·  Agastaya Jindal  ·  Adithya Ranjan  ·  Karthik Natarajan</a:t>
            </a:r>
            <a:endParaRPr lang="en-US" sz="1300" dirty="0">
              <a:solidFill>
                <a:srgbClr val="98C63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251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Madhav Institute of Technology &amp; Science, Gwalior</a:t>
            </a:r>
            <a:endParaRPr lang="en-US" sz="1200" dirty="0">
              <a:solidFill>
                <a:srgbClr val="98C63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631FAC93-1BB1-C4BF-0C13-752029D4D897}"/>
              </a:ext>
            </a:extLst>
          </p:cNvPr>
          <p:cNvSpPr/>
          <p:nvPr/>
        </p:nvSpPr>
        <p:spPr>
          <a:xfrm>
            <a:off x="-4497" y="0"/>
            <a:ext cx="9148497" cy="516110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8C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>
              <a:solidFill>
                <a:srgbClr val="98C63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8C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rural pulse, seen in time.</a:t>
            </a:r>
            <a:endParaRPr lang="en-US" sz="1800" dirty="0">
              <a:solidFill>
                <a:srgbClr val="98C63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713</Words>
  <Application>Microsoft Office PowerPoint</Application>
  <PresentationFormat>On-screen Show (16:9)</PresentationFormat>
  <Paragraphs>158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Helvetica World</vt:lpstr>
      <vt:lpstr>Mokoto Glitch 1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ArogyaPulse - AI-Powered Rural Healthcare Triage</dc:title>
  <dc:subject>Hackathon Pitch Deck</dc:subject>
  <dc:creator>Team ArogyaPulse</dc:creator>
  <cp:lastModifiedBy>Arav Kotwal</cp:lastModifiedBy>
  <cp:revision>2</cp:revision>
  <dcterms:created xsi:type="dcterms:W3CDTF">2026-08-09T15:08:14Z</dcterms:created>
  <dcterms:modified xsi:type="dcterms:W3CDTF">2026-08-09T16:40:34Z</dcterms:modified>
</cp:coreProperties>
</file>